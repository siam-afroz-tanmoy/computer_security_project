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Montserrat"/>
      <p:bold r:id="rId21"/>
      <p:boldItalic r:id="rId22"/>
    </p:embeddedFont>
    <p:embeddedFont>
      <p:font typeface="Tomorrow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TSNS8RNuPgXooM3FHkZ6r7Cao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CB71F7-161E-466E-8DC3-512F4E25F18B}">
  <a:tblStyle styleId="{44CB71F7-161E-466E-8DC3-512F4E25F1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Tomorrow-boldItalic.fntdata"/><Relationship Id="rId23" Type="http://schemas.openxmlformats.org/officeDocument/2006/relationships/font" Target="fonts/Tomo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5.jpg"/><Relationship Id="rId5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8.jp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13.png"/><Relationship Id="rId5" Type="http://schemas.openxmlformats.org/officeDocument/2006/relationships/image" Target="../media/image8.jp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Relationship Id="rId4" Type="http://schemas.openxmlformats.org/officeDocument/2006/relationships/image" Target="../media/image13.png"/><Relationship Id="rId5" Type="http://schemas.openxmlformats.org/officeDocument/2006/relationships/image" Target="../media/image8.jp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766061" y="-527692"/>
            <a:ext cx="18449839" cy="7689827"/>
            <a:chOff x="0" y="-38100"/>
            <a:chExt cx="4859217" cy="2025304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859217" cy="1987204"/>
            </a:xfrm>
            <a:custGeom>
              <a:rect b="b" l="l" r="r" t="t"/>
              <a:pathLst>
                <a:path extrusionOk="0"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>
              <a:gsLst>
                <a:gs pos="0">
                  <a:srgbClr val="060606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766061" y="8929477"/>
            <a:ext cx="771504" cy="1804324"/>
            <a:chOff x="0" y="-38100"/>
            <a:chExt cx="203194" cy="475213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17259300" y="9135649"/>
            <a:ext cx="685327" cy="409950"/>
          </a:xfrm>
          <a:custGeom>
            <a:rect b="b" l="l" r="r" t="t"/>
            <a:pathLst>
              <a:path extrusionOk="0"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5323921" y="-2379919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9" y="0"/>
                </a:lnTo>
                <a:lnTo>
                  <a:pt x="6371069" y="6371069"/>
                </a:lnTo>
                <a:lnTo>
                  <a:pt x="0" y="6371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766061" y="1737474"/>
            <a:ext cx="17197741" cy="90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29" u="sng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Phishing URL Detection using Neural Networks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022697" y="9302524"/>
            <a:ext cx="448732" cy="32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402660" y="2365532"/>
            <a:ext cx="17541967" cy="9426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7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Computer Security (section: A)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Md. Taky Shaharair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MEMBERS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1. PARTHO MAJUMDAR(011222042)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JANNATUL NAIMA(011222266)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3. MD. SIAM AFROZ TANMOY (0112230123)</a:t>
            </a:r>
            <a:endParaRPr/>
          </a:p>
          <a:p>
            <a:pPr indent="-272157" lvl="1" marL="963415" marR="0" rtl="0" algn="ctr">
              <a:lnSpc>
                <a:spcPct val="1893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96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96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893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2953309" y="3443048"/>
            <a:ext cx="7766685" cy="7766685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6">
              <a:alphaModFix amt="42000"/>
            </a:blip>
            <a:stretch>
              <a:fillRect b="-26336" l="0" r="0" t="-2633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1"/>
          <p:cNvGrpSpPr/>
          <p:nvPr/>
        </p:nvGrpSpPr>
        <p:grpSpPr>
          <a:xfrm>
            <a:off x="-1838295" y="4838553"/>
            <a:ext cx="7374528" cy="7374528"/>
            <a:chOff x="0" y="0"/>
            <a:chExt cx="812800" cy="812800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0">
              <a:solidFill>
                <a:srgbClr val="585858">
                  <a:alpha val="5098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16758060" y="9362399"/>
            <a:ext cx="685327" cy="409950"/>
          </a:xfrm>
          <a:custGeom>
            <a:rect b="b" l="l" r="r" t="t"/>
            <a:pathLst>
              <a:path extrusionOk="0"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 txBox="1"/>
          <p:nvPr/>
        </p:nvSpPr>
        <p:spPr>
          <a:xfrm>
            <a:off x="256636" y="9685555"/>
            <a:ext cx="448732" cy="32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28700" y="617011"/>
            <a:ext cx="9617953" cy="895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89" u="sng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is Phishing?</a:t>
            </a:r>
            <a:endParaRPr/>
          </a:p>
          <a:p>
            <a:pPr indent="-368009" lvl="1" marL="736018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9"/>
              <a:buFont typeface="Arial"/>
              <a:buChar char="•"/>
            </a:pPr>
            <a:r>
              <a:rPr b="0" i="0" lang="en-US" sz="340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Fake websites steal personal information.</a:t>
            </a:r>
            <a:endParaRPr/>
          </a:p>
          <a:p>
            <a:pPr indent="-368009" lvl="1" marL="736018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9"/>
              <a:buFont typeface="Arial"/>
              <a:buChar char="•"/>
            </a:pPr>
            <a:r>
              <a:rPr b="0" i="0" lang="en-US" sz="340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They look like real websites.</a:t>
            </a:r>
            <a:endParaRPr/>
          </a:p>
          <a:p>
            <a:pPr indent="-368009" lvl="1" marL="736018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9"/>
              <a:buFont typeface="Arial"/>
              <a:buChar char="•"/>
            </a:pPr>
            <a:r>
              <a:rPr b="0" i="0" lang="en-US" sz="340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Users may lose passwords or bank information.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Why is it a problem?</a:t>
            </a:r>
            <a:endParaRPr/>
          </a:p>
          <a:p>
            <a:pPr indent="-368009" lvl="1" marL="736018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9"/>
              <a:buFont typeface="Arial"/>
              <a:buChar char="•"/>
            </a:pPr>
            <a:r>
              <a:rPr b="0" i="0" lang="en-US" sz="340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Phishing attacks are increasing every year.</a:t>
            </a:r>
            <a:endParaRPr/>
          </a:p>
          <a:p>
            <a:pPr indent="-368009" lvl="1" marL="736018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9"/>
              <a:buFont typeface="Arial"/>
              <a:buChar char="•"/>
            </a:pPr>
            <a:r>
              <a:rPr b="0" i="0" lang="en-US" sz="340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Traditional blacklist methods cannot detect many new phishing websites.</a:t>
            </a:r>
            <a:endParaRPr/>
          </a:p>
          <a:p>
            <a:pPr indent="-368009" lvl="1" marL="736018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9"/>
              <a:buFont typeface="Arial"/>
              <a:buChar char="•"/>
            </a:pPr>
            <a:r>
              <a:rPr b="0" i="0" lang="en-US" sz="340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 and accurate detection is needed.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09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1455243" y="220709"/>
            <a:ext cx="6447890" cy="4801098"/>
          </a:xfrm>
          <a:custGeom>
            <a:rect b="b" l="l" r="r" t="t"/>
            <a:pathLst>
              <a:path extrusionOk="0" h="4801098" w="6447890">
                <a:moveTo>
                  <a:pt x="0" y="0"/>
                </a:moveTo>
                <a:lnTo>
                  <a:pt x="6447889" y="0"/>
                </a:lnTo>
                <a:lnTo>
                  <a:pt x="6447889" y="4801097"/>
                </a:lnTo>
                <a:lnTo>
                  <a:pt x="0" y="4801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838" l="-19634" r="0" t="-6838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11455243" y="5238494"/>
            <a:ext cx="6447890" cy="4808499"/>
          </a:xfrm>
          <a:custGeom>
            <a:rect b="b" l="l" r="r" t="t"/>
            <a:pathLst>
              <a:path extrusionOk="0" h="4808499" w="6447890">
                <a:moveTo>
                  <a:pt x="0" y="0"/>
                </a:moveTo>
                <a:lnTo>
                  <a:pt x="6447889" y="0"/>
                </a:lnTo>
                <a:lnTo>
                  <a:pt x="6447889" y="4808499"/>
                </a:lnTo>
                <a:lnTo>
                  <a:pt x="0" y="4808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6288" r="-1628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3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8" name="Google Shape;118;p3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3"/>
          <p:cNvSpPr txBox="1"/>
          <p:nvPr/>
        </p:nvSpPr>
        <p:spPr>
          <a:xfrm>
            <a:off x="256636" y="-114300"/>
            <a:ext cx="15766620" cy="9796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53" u="sng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State of the Art</a:t>
            </a:r>
            <a:endParaRPr/>
          </a:p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Current Research</a:t>
            </a:r>
            <a:endParaRPr/>
          </a:p>
          <a:p>
            <a:pPr indent="-340494" lvl="1" marL="680989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E9EAED"/>
              </a:buClr>
              <a:buSzPts val="3154"/>
              <a:buFont typeface="Arial"/>
              <a:buChar char="•"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Uses Machine Learning and Deep Learning.</a:t>
            </a:r>
            <a:endParaRPr/>
          </a:p>
          <a:p>
            <a:pPr indent="-340494" lvl="1" marL="680989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E9EAED"/>
              </a:buClr>
              <a:buSzPts val="3154"/>
              <a:buFont typeface="Arial"/>
              <a:buChar char="•"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Uses BERT-based Neural Networks.</a:t>
            </a:r>
            <a:endParaRPr/>
          </a:p>
          <a:p>
            <a:pPr indent="-340494" lvl="1" marL="680989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E9EAED"/>
              </a:buClr>
              <a:buSzPts val="3154"/>
              <a:buFont typeface="Arial"/>
              <a:buChar char="•"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Uses large datasets:</a:t>
            </a:r>
            <a:endParaRPr/>
          </a:p>
          <a:p>
            <a:pPr indent="-453992" lvl="2" marL="1361977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E9EAED"/>
              </a:buClr>
              <a:buSzPts val="3154"/>
              <a:buFont typeface="Arial"/>
              <a:buChar char="⚬"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Alexa</a:t>
            </a:r>
            <a:endParaRPr/>
          </a:p>
          <a:p>
            <a:pPr indent="-453992" lvl="2" marL="1361977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E9EAED"/>
              </a:buClr>
              <a:buSzPts val="3154"/>
              <a:buFont typeface="Arial"/>
              <a:buChar char="⚬"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PhishTank</a:t>
            </a:r>
            <a:endParaRPr/>
          </a:p>
          <a:p>
            <a:pPr indent="-453992" lvl="2" marL="1361977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E9EAED"/>
              </a:buClr>
              <a:buSzPts val="3154"/>
              <a:buFont typeface="Arial"/>
              <a:buChar char="⚬"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OpenPhish</a:t>
            </a:r>
            <a:endParaRPr/>
          </a:p>
          <a:p>
            <a:pPr indent="-453992" lvl="2" marL="1361977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E9EAED"/>
              </a:buClr>
              <a:buSzPts val="3154"/>
              <a:buFont typeface="Arial"/>
              <a:buChar char="⚬"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EasyDMARC</a:t>
            </a:r>
            <a:endParaRPr/>
          </a:p>
          <a:p>
            <a:pPr indent="-340494" lvl="1" marL="680989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E9EAED"/>
              </a:buClr>
              <a:buSzPts val="3154"/>
              <a:buFont typeface="Arial"/>
              <a:buChar char="•"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Achieves around 97% accuracy.</a:t>
            </a:r>
            <a:endParaRPr/>
          </a:p>
          <a:p>
            <a:pPr indent="-340494" lvl="1" marL="680989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E9EAED"/>
              </a:buClr>
              <a:buSzPts val="3154"/>
              <a:buFont typeface="Arial"/>
              <a:buChar char="•"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Successfully tested in a real production environment.</a:t>
            </a:r>
            <a:endParaRPr/>
          </a:p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Key Contribution</a:t>
            </a:r>
            <a:endParaRPr/>
          </a:p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✔ High accuracy</a:t>
            </a:r>
            <a:endParaRPr/>
          </a:p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✔ Real-world deployment</a:t>
            </a:r>
            <a:endParaRPr/>
          </a:p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4" u="none" cap="none" strike="noStrike">
                <a:solidFill>
                  <a:srgbClr val="E9EAED"/>
                </a:solidFill>
                <a:latin typeface="Montserrat"/>
                <a:ea typeface="Montserrat"/>
                <a:cs typeface="Montserrat"/>
                <a:sym typeface="Montserrat"/>
              </a:rPr>
              <a:t>✔ Confidence score using Probabilistic Neural Network</a:t>
            </a:r>
            <a:endParaRPr/>
          </a:p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4" u="none" cap="none" strike="noStrike">
              <a:solidFill>
                <a:srgbClr val="E9EA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2221207" y="308901"/>
            <a:ext cx="5751075" cy="4779695"/>
          </a:xfrm>
          <a:custGeom>
            <a:rect b="b" l="l" r="r" t="t"/>
            <a:pathLst>
              <a:path extrusionOk="0" h="4779695" w="5751075">
                <a:moveTo>
                  <a:pt x="0" y="0"/>
                </a:moveTo>
                <a:lnTo>
                  <a:pt x="5751074" y="0"/>
                </a:lnTo>
                <a:lnTo>
                  <a:pt x="5751074" y="4779695"/>
                </a:lnTo>
                <a:lnTo>
                  <a:pt x="0" y="47796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33" l="-20932" r="-3484" t="-10499"/>
            </a:stretch>
          </a:blip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>
            <a:off x="12221207" y="5367656"/>
            <a:ext cx="5751075" cy="2886361"/>
          </a:xfrm>
          <a:custGeom>
            <a:rect b="b" l="l" r="r" t="t"/>
            <a:pathLst>
              <a:path extrusionOk="0" h="2886361" w="5751075">
                <a:moveTo>
                  <a:pt x="0" y="0"/>
                </a:moveTo>
                <a:lnTo>
                  <a:pt x="5751074" y="0"/>
                </a:lnTo>
                <a:lnTo>
                  <a:pt x="5751074" y="2886361"/>
                </a:lnTo>
                <a:lnTo>
                  <a:pt x="0" y="2886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12221207" y="8533077"/>
            <a:ext cx="5751075" cy="1475816"/>
          </a:xfrm>
          <a:custGeom>
            <a:rect b="b" l="l" r="r" t="t"/>
            <a:pathLst>
              <a:path extrusionOk="0" h="1475816" w="5751075">
                <a:moveTo>
                  <a:pt x="0" y="0"/>
                </a:moveTo>
                <a:lnTo>
                  <a:pt x="5751074" y="0"/>
                </a:lnTo>
                <a:lnTo>
                  <a:pt x="5751074" y="1475816"/>
                </a:lnTo>
                <a:lnTo>
                  <a:pt x="0" y="1475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7574" l="0" r="-4457" t="-239476"/>
            </a:stretch>
          </a:blipFill>
          <a:ln>
            <a:noFill/>
          </a:ln>
        </p:spPr>
      </p:sp>
      <p:sp>
        <p:nvSpPr>
          <p:cNvPr id="123" name="Google Shape;123;p3"/>
          <p:cNvSpPr txBox="1"/>
          <p:nvPr/>
        </p:nvSpPr>
        <p:spPr>
          <a:xfrm>
            <a:off x="256636" y="9685555"/>
            <a:ext cx="448732" cy="32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4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129" name="Google Shape;129;p4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30" name="Google Shape;130;p4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31" name="Google Shape;131;p4"/>
          <p:cNvGraphicFramePr/>
          <p:nvPr/>
        </p:nvGraphicFramePr>
        <p:xfrm>
          <a:off x="1028700" y="1225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{44CB71F7-161E-466E-8DC3-512F4E25F18B}</a:tableStyleId>
              </a:tblPr>
              <a:tblGrid>
                <a:gridCol w="4018250"/>
                <a:gridCol w="11804825"/>
              </a:tblGrid>
              <a:tr h="123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999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Feature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999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Current Paper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6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BERT + Neural Network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6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Alexa, PhishTank, OpenPhish, EasyDMARC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6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Accuracy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~97%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Production Tested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48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8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Confidence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Score</a:t>
                      </a:r>
                      <a:endParaRPr/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30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Yes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957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8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0" marB="190500" marR="190500" marL="190500" anchor="ctr">
                    <a:lnL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0CC0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4"/>
          <p:cNvSpPr txBox="1"/>
          <p:nvPr/>
        </p:nvSpPr>
        <p:spPr>
          <a:xfrm>
            <a:off x="256636" y="9685555"/>
            <a:ext cx="448732" cy="32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028700" y="157534"/>
            <a:ext cx="16780654" cy="1528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State of the Art Summary</a:t>
            </a:r>
            <a:endParaRPr/>
          </a:p>
          <a:p>
            <a:pPr indent="0" lvl="0" marL="0" marR="0" rtl="0" algn="l">
              <a:lnSpc>
                <a:spcPct val="66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855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139" name="Google Shape;139;p5"/>
          <p:cNvGrpSpPr/>
          <p:nvPr/>
        </p:nvGrpSpPr>
        <p:grpSpPr>
          <a:xfrm>
            <a:off x="-80920" y="-144661"/>
            <a:ext cx="18449839" cy="7689827"/>
            <a:chOff x="0" y="-38100"/>
            <a:chExt cx="4859217" cy="2025304"/>
          </a:xfrm>
        </p:grpSpPr>
        <p:sp>
          <p:nvSpPr>
            <p:cNvPr id="140" name="Google Shape;140;p5"/>
            <p:cNvSpPr/>
            <p:nvPr/>
          </p:nvSpPr>
          <p:spPr>
            <a:xfrm>
              <a:off x="0" y="0"/>
              <a:ext cx="4859217" cy="1987204"/>
            </a:xfrm>
            <a:custGeom>
              <a:rect b="b" l="l" r="r" t="t"/>
              <a:pathLst>
                <a:path extrusionOk="0"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>
              <a:gsLst>
                <a:gs pos="0">
                  <a:srgbClr val="060606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41" name="Google Shape;141;p5"/>
            <p:cNvSpPr txBox="1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5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44" name="Google Shape;144;p5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5"/>
          <p:cNvSpPr/>
          <p:nvPr/>
        </p:nvSpPr>
        <p:spPr>
          <a:xfrm>
            <a:off x="16758060" y="9362399"/>
            <a:ext cx="685327" cy="409950"/>
          </a:xfrm>
          <a:custGeom>
            <a:rect b="b" l="l" r="r" t="t"/>
            <a:pathLst>
              <a:path extrusionOk="0"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14557860" y="-1996888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/>
          <p:nvPr/>
        </p:nvSpPr>
        <p:spPr>
          <a:xfrm>
            <a:off x="14738254" y="3169717"/>
            <a:ext cx="3630666" cy="5303400"/>
          </a:xfrm>
          <a:custGeom>
            <a:rect b="b" l="l" r="r" t="t"/>
            <a:pathLst>
              <a:path extrusionOk="0" h="8904572" w="6096000">
                <a:moveTo>
                  <a:pt x="5969000" y="890457"/>
                </a:moveTo>
                <a:cubicBezTo>
                  <a:pt x="5969000" y="801411"/>
                  <a:pt x="5969000" y="623320"/>
                  <a:pt x="5969000" y="534274"/>
                </a:cubicBezTo>
                <a:lnTo>
                  <a:pt x="5842000" y="534274"/>
                </a:lnTo>
                <a:lnTo>
                  <a:pt x="5842000" y="356183"/>
                </a:lnTo>
                <a:lnTo>
                  <a:pt x="5715000" y="356183"/>
                </a:lnTo>
                <a:lnTo>
                  <a:pt x="5715000" y="178091"/>
                </a:lnTo>
                <a:cubicBezTo>
                  <a:pt x="5651500" y="178091"/>
                  <a:pt x="5524500" y="178091"/>
                  <a:pt x="5461000" y="178091"/>
                </a:cubicBezTo>
                <a:lnTo>
                  <a:pt x="5461000" y="0"/>
                </a:lnTo>
                <a:cubicBezTo>
                  <a:pt x="3853180" y="0"/>
                  <a:pt x="2242820" y="0"/>
                  <a:pt x="635000" y="0"/>
                </a:cubicBezTo>
                <a:lnTo>
                  <a:pt x="635000" y="178091"/>
                </a:lnTo>
                <a:cubicBezTo>
                  <a:pt x="571500" y="178091"/>
                  <a:pt x="444500" y="178091"/>
                  <a:pt x="381000" y="178091"/>
                </a:cubicBezTo>
                <a:lnTo>
                  <a:pt x="381000" y="356183"/>
                </a:lnTo>
                <a:lnTo>
                  <a:pt x="254000" y="356183"/>
                </a:lnTo>
                <a:lnTo>
                  <a:pt x="254000" y="534274"/>
                </a:lnTo>
                <a:lnTo>
                  <a:pt x="127000" y="534274"/>
                </a:lnTo>
                <a:cubicBezTo>
                  <a:pt x="127000" y="623320"/>
                  <a:pt x="127000" y="801411"/>
                  <a:pt x="127000" y="890457"/>
                </a:cubicBezTo>
                <a:lnTo>
                  <a:pt x="0" y="890457"/>
                </a:lnTo>
                <a:cubicBezTo>
                  <a:pt x="0" y="3264416"/>
                  <a:pt x="0" y="5640156"/>
                  <a:pt x="0" y="8014115"/>
                </a:cubicBezTo>
                <a:lnTo>
                  <a:pt x="127000" y="8014115"/>
                </a:lnTo>
                <a:cubicBezTo>
                  <a:pt x="127000" y="8103160"/>
                  <a:pt x="127000" y="8281252"/>
                  <a:pt x="127000" y="8370298"/>
                </a:cubicBezTo>
                <a:lnTo>
                  <a:pt x="254000" y="8370298"/>
                </a:lnTo>
                <a:lnTo>
                  <a:pt x="254000" y="8548389"/>
                </a:lnTo>
                <a:lnTo>
                  <a:pt x="381000" y="8548389"/>
                </a:lnTo>
                <a:lnTo>
                  <a:pt x="381000" y="8726481"/>
                </a:lnTo>
                <a:cubicBezTo>
                  <a:pt x="444500" y="8726481"/>
                  <a:pt x="571500" y="8726481"/>
                  <a:pt x="635000" y="8726481"/>
                </a:cubicBezTo>
                <a:lnTo>
                  <a:pt x="635000" y="8904572"/>
                </a:lnTo>
                <a:cubicBezTo>
                  <a:pt x="2242820" y="8904572"/>
                  <a:pt x="3853180" y="8904572"/>
                  <a:pt x="5461000" y="8904572"/>
                </a:cubicBezTo>
                <a:lnTo>
                  <a:pt x="5461000" y="8726481"/>
                </a:lnTo>
                <a:cubicBezTo>
                  <a:pt x="5524500" y="8726481"/>
                  <a:pt x="5651500" y="8726481"/>
                  <a:pt x="5715000" y="8726481"/>
                </a:cubicBezTo>
                <a:lnTo>
                  <a:pt x="5715000" y="8548389"/>
                </a:lnTo>
                <a:lnTo>
                  <a:pt x="5842000" y="8548389"/>
                </a:lnTo>
                <a:lnTo>
                  <a:pt x="5842000" y="8370298"/>
                </a:lnTo>
                <a:lnTo>
                  <a:pt x="5969000" y="8370298"/>
                </a:lnTo>
                <a:cubicBezTo>
                  <a:pt x="5969000" y="8281252"/>
                  <a:pt x="5969000" y="8103160"/>
                  <a:pt x="5969000" y="8014115"/>
                </a:cubicBezTo>
                <a:lnTo>
                  <a:pt x="6096000" y="8014115"/>
                </a:lnTo>
                <a:cubicBezTo>
                  <a:pt x="6096000" y="5640156"/>
                  <a:pt x="6096000" y="3264416"/>
                  <a:pt x="6096000" y="890457"/>
                </a:cubicBezTo>
                <a:lnTo>
                  <a:pt x="5969000" y="89045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9620" r="-59620" t="0"/>
            </a:stretch>
          </a:blipFill>
          <a:ln cap="sq" cmpd="sng" w="19050">
            <a:solidFill>
              <a:srgbClr val="96C5D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17746" y="7918487"/>
            <a:ext cx="2734211" cy="2050658"/>
          </a:xfrm>
          <a:custGeom>
            <a:rect b="b" l="l" r="r" t="t"/>
            <a:pathLst>
              <a:path extrusionOk="0" h="2050658" w="2734211">
                <a:moveTo>
                  <a:pt x="0" y="0"/>
                </a:moveTo>
                <a:lnTo>
                  <a:pt x="2734211" y="0"/>
                </a:lnTo>
                <a:lnTo>
                  <a:pt x="2734211" y="2050658"/>
                </a:lnTo>
                <a:lnTo>
                  <a:pt x="0" y="20506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 txBox="1"/>
          <p:nvPr/>
        </p:nvSpPr>
        <p:spPr>
          <a:xfrm>
            <a:off x="1971833" y="3093517"/>
            <a:ext cx="12218349" cy="5056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13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6423" lvl="1" marL="89284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35"/>
              <a:buFont typeface="Arial"/>
              <a:buChar char="•"/>
            </a:pPr>
            <a:r>
              <a:rPr b="1" i="0" lang="en-US" sz="41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CNN, Bi-LSTM for URL pattern learning</a:t>
            </a:r>
            <a:endParaRPr/>
          </a:p>
          <a:p>
            <a:pPr indent="-446423" lvl="1" marL="89284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35"/>
              <a:buFont typeface="Arial"/>
              <a:buChar char="•"/>
            </a:pPr>
            <a:r>
              <a:rPr b="1" i="0" lang="en-US" sz="41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Transformer-based models (BERT, DistilBERT)Hybrid deep learning models</a:t>
            </a:r>
            <a:endParaRPr/>
          </a:p>
          <a:p>
            <a:pPr indent="-446423" lvl="1" marL="89284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35"/>
              <a:buFont typeface="Arial"/>
              <a:buChar char="•"/>
            </a:pPr>
            <a:r>
              <a:rPr b="1" i="0" lang="en-US" sz="41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Multimodal detection (URL + HTML + Visual)</a:t>
            </a:r>
            <a:endParaRPr/>
          </a:p>
          <a:p>
            <a:pPr indent="-446423" lvl="1" marL="89284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35"/>
              <a:buFont typeface="Arial"/>
              <a:buChar char="•"/>
            </a:pPr>
            <a:r>
              <a:rPr b="1" i="0" lang="en-US" sz="41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Improved zero-day phishing detection</a:t>
            </a:r>
            <a:endParaRPr/>
          </a:p>
          <a:p>
            <a:pPr indent="0" lvl="0" marL="0" marR="0" rtl="0" algn="ctr">
              <a:lnSpc>
                <a:spcPct val="133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13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323203" y="1974200"/>
            <a:ext cx="15641594" cy="71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9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RECENT ADVANCEMENTS ON THIS FIELD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156" name="Google Shape;156;p6"/>
          <p:cNvGrpSpPr/>
          <p:nvPr/>
        </p:nvGrpSpPr>
        <p:grpSpPr>
          <a:xfrm>
            <a:off x="-80920" y="-144661"/>
            <a:ext cx="18449839" cy="7689827"/>
            <a:chOff x="0" y="-38100"/>
            <a:chExt cx="4859217" cy="2025304"/>
          </a:xfrm>
        </p:grpSpPr>
        <p:sp>
          <p:nvSpPr>
            <p:cNvPr id="157" name="Google Shape;157;p6"/>
            <p:cNvSpPr/>
            <p:nvPr/>
          </p:nvSpPr>
          <p:spPr>
            <a:xfrm>
              <a:off x="0" y="0"/>
              <a:ext cx="4859217" cy="1987204"/>
            </a:xfrm>
            <a:custGeom>
              <a:rect b="b" l="l" r="r" t="t"/>
              <a:pathLst>
                <a:path extrusionOk="0"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>
              <a:gsLst>
                <a:gs pos="0">
                  <a:srgbClr val="060606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58" name="Google Shape;158;p6"/>
            <p:cNvSpPr txBox="1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6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160" name="Google Shape;160;p6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61" name="Google Shape;161;p6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6"/>
          <p:cNvGrpSpPr/>
          <p:nvPr/>
        </p:nvGrpSpPr>
        <p:grpSpPr>
          <a:xfrm>
            <a:off x="1739694" y="6076595"/>
            <a:ext cx="385752" cy="532094"/>
            <a:chOff x="0" y="-38100"/>
            <a:chExt cx="101597" cy="140140"/>
          </a:xfrm>
        </p:grpSpPr>
        <p:sp>
          <p:nvSpPr>
            <p:cNvPr id="163" name="Google Shape;163;p6"/>
            <p:cNvSpPr/>
            <p:nvPr/>
          </p:nvSpPr>
          <p:spPr>
            <a:xfrm>
              <a:off x="0" y="0"/>
              <a:ext cx="101597" cy="102040"/>
            </a:xfrm>
            <a:custGeom>
              <a:rect b="b" l="l" r="r" t="t"/>
              <a:pathLst>
                <a:path extrusionOk="0" h="102040" w="101597">
                  <a:moveTo>
                    <a:pt x="0" y="0"/>
                  </a:moveTo>
                  <a:lnTo>
                    <a:pt x="101597" y="0"/>
                  </a:lnTo>
                  <a:lnTo>
                    <a:pt x="101597" y="102040"/>
                  </a:lnTo>
                  <a:lnTo>
                    <a:pt x="0" y="102040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64" name="Google Shape;164;p6"/>
            <p:cNvSpPr txBox="1"/>
            <p:nvPr/>
          </p:nvSpPr>
          <p:spPr>
            <a:xfrm>
              <a:off x="0" y="-38100"/>
              <a:ext cx="101597" cy="140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6"/>
          <p:cNvSpPr/>
          <p:nvPr/>
        </p:nvSpPr>
        <p:spPr>
          <a:xfrm>
            <a:off x="14046846" y="718740"/>
            <a:ext cx="3698748" cy="3328873"/>
          </a:xfrm>
          <a:custGeom>
            <a:rect b="b" l="l" r="r" t="t"/>
            <a:pathLst>
              <a:path extrusionOk="0" h="3328873" w="3698748">
                <a:moveTo>
                  <a:pt x="0" y="0"/>
                </a:moveTo>
                <a:lnTo>
                  <a:pt x="3698748" y="0"/>
                </a:lnTo>
                <a:lnTo>
                  <a:pt x="3698748" y="3328873"/>
                </a:lnTo>
                <a:lnTo>
                  <a:pt x="0" y="3328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6"/>
          <p:cNvSpPr txBox="1"/>
          <p:nvPr/>
        </p:nvSpPr>
        <p:spPr>
          <a:xfrm>
            <a:off x="1739694" y="2081970"/>
            <a:ext cx="12577747" cy="754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1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58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RESEARCH GAP ANALYSIS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256636" y="9676030"/>
            <a:ext cx="448732" cy="33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06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1028700" y="3608944"/>
            <a:ext cx="14975278" cy="3601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0295" lvl="1" marL="88059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78"/>
              <a:buFont typeface="Arial"/>
              <a:buChar char="•"/>
            </a:pPr>
            <a:r>
              <a:rPr b="1" i="0" lang="en-US" sz="40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Limited detection of unseen phishing URLs</a:t>
            </a:r>
            <a:endParaRPr/>
          </a:p>
          <a:p>
            <a:pPr indent="-440295" lvl="1" marL="88059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78"/>
              <a:buFont typeface="Arial"/>
              <a:buChar char="•"/>
            </a:pPr>
            <a:r>
              <a:rPr b="1" i="0" lang="en-US" sz="40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Dependence on outdated or imbalanced datasets</a:t>
            </a:r>
            <a:endParaRPr/>
          </a:p>
          <a:p>
            <a:pPr indent="-440295" lvl="1" marL="88059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78"/>
              <a:buFont typeface="Arial"/>
              <a:buChar char="•"/>
            </a:pPr>
            <a:r>
              <a:rPr b="1" i="0" lang="en-US" sz="40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Insufficient use of contextual website information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7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7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1028700" y="5728845"/>
            <a:ext cx="12525631" cy="2233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0965" lvl="1" marL="881929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84"/>
              <a:buFont typeface="Arial"/>
              <a:buChar char="•"/>
            </a:pPr>
            <a:r>
              <a:rPr b="1" i="0" lang="en-US" sz="408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computational complexity</a:t>
            </a:r>
            <a:endParaRPr/>
          </a:p>
          <a:p>
            <a:pPr indent="-440965" lvl="1" marL="881929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84"/>
              <a:buFont typeface="Arial"/>
              <a:buChar char="•"/>
            </a:pPr>
            <a:r>
              <a:rPr b="1" i="0" lang="en-US" sz="408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Limited model interpretability</a:t>
            </a:r>
            <a:endParaRPr/>
          </a:p>
          <a:p>
            <a:pPr indent="0" lvl="0" marL="0" marR="0" rtl="0" algn="ctr">
              <a:lnSpc>
                <a:spcPct val="1571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8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2067041" y="6221256"/>
            <a:ext cx="3827615" cy="3910517"/>
          </a:xfrm>
          <a:custGeom>
            <a:rect b="b" l="l" r="r" t="t"/>
            <a:pathLst>
              <a:path extrusionOk="0" h="6350000" w="6215380">
                <a:moveTo>
                  <a:pt x="6085840" y="1851660"/>
                </a:moveTo>
                <a:lnTo>
                  <a:pt x="6085840" y="1719580"/>
                </a:lnTo>
                <a:lnTo>
                  <a:pt x="5953760" y="1719580"/>
                </a:lnTo>
                <a:lnTo>
                  <a:pt x="5953760" y="1587500"/>
                </a:lnTo>
                <a:lnTo>
                  <a:pt x="5821680" y="1587500"/>
                </a:lnTo>
                <a:lnTo>
                  <a:pt x="5821680" y="1455420"/>
                </a:lnTo>
                <a:lnTo>
                  <a:pt x="5689600" y="1455420"/>
                </a:lnTo>
                <a:lnTo>
                  <a:pt x="5689600" y="1323340"/>
                </a:lnTo>
                <a:lnTo>
                  <a:pt x="5557520" y="1323340"/>
                </a:lnTo>
                <a:lnTo>
                  <a:pt x="5557520" y="1189990"/>
                </a:lnTo>
                <a:lnTo>
                  <a:pt x="5425440" y="1189990"/>
                </a:lnTo>
                <a:lnTo>
                  <a:pt x="5425440" y="1057910"/>
                </a:lnTo>
                <a:lnTo>
                  <a:pt x="5293360" y="1057910"/>
                </a:lnTo>
                <a:lnTo>
                  <a:pt x="5293360" y="925830"/>
                </a:lnTo>
                <a:lnTo>
                  <a:pt x="5161280" y="925830"/>
                </a:lnTo>
                <a:lnTo>
                  <a:pt x="5161280" y="793750"/>
                </a:lnTo>
                <a:lnTo>
                  <a:pt x="5029200" y="793750"/>
                </a:lnTo>
                <a:lnTo>
                  <a:pt x="5029200" y="661670"/>
                </a:lnTo>
                <a:lnTo>
                  <a:pt x="4897120" y="661670"/>
                </a:lnTo>
                <a:lnTo>
                  <a:pt x="4897120" y="529590"/>
                </a:lnTo>
                <a:lnTo>
                  <a:pt x="4762500" y="529590"/>
                </a:lnTo>
                <a:lnTo>
                  <a:pt x="4762500" y="397510"/>
                </a:lnTo>
                <a:lnTo>
                  <a:pt x="4630420" y="397510"/>
                </a:lnTo>
                <a:lnTo>
                  <a:pt x="4630420" y="264160"/>
                </a:lnTo>
                <a:lnTo>
                  <a:pt x="4498340" y="264160"/>
                </a:lnTo>
                <a:lnTo>
                  <a:pt x="4498340" y="132080"/>
                </a:lnTo>
                <a:lnTo>
                  <a:pt x="4366260" y="132080"/>
                </a:lnTo>
                <a:lnTo>
                  <a:pt x="4366260" y="0"/>
                </a:lnTo>
                <a:cubicBezTo>
                  <a:pt x="3530600" y="0"/>
                  <a:pt x="2688590" y="0"/>
                  <a:pt x="1852930" y="0"/>
                </a:cubicBezTo>
                <a:lnTo>
                  <a:pt x="1852930" y="132080"/>
                </a:lnTo>
                <a:lnTo>
                  <a:pt x="1720850" y="132080"/>
                </a:lnTo>
                <a:lnTo>
                  <a:pt x="1720850" y="264160"/>
                </a:lnTo>
                <a:lnTo>
                  <a:pt x="1587500" y="264160"/>
                </a:lnTo>
                <a:lnTo>
                  <a:pt x="1587500" y="396240"/>
                </a:lnTo>
                <a:lnTo>
                  <a:pt x="1455420" y="396240"/>
                </a:lnTo>
                <a:lnTo>
                  <a:pt x="1455420" y="528320"/>
                </a:lnTo>
                <a:lnTo>
                  <a:pt x="1323340" y="528320"/>
                </a:lnTo>
                <a:lnTo>
                  <a:pt x="1323340" y="660400"/>
                </a:lnTo>
                <a:lnTo>
                  <a:pt x="1189990" y="660400"/>
                </a:lnTo>
                <a:lnTo>
                  <a:pt x="1189990" y="792480"/>
                </a:lnTo>
                <a:lnTo>
                  <a:pt x="1057910" y="792480"/>
                </a:lnTo>
                <a:lnTo>
                  <a:pt x="1057910" y="924560"/>
                </a:lnTo>
                <a:lnTo>
                  <a:pt x="925830" y="924560"/>
                </a:lnTo>
                <a:lnTo>
                  <a:pt x="925830" y="1056640"/>
                </a:lnTo>
                <a:lnTo>
                  <a:pt x="793750" y="1056640"/>
                </a:lnTo>
                <a:lnTo>
                  <a:pt x="793750" y="1188720"/>
                </a:lnTo>
                <a:lnTo>
                  <a:pt x="661670" y="1188720"/>
                </a:lnTo>
                <a:lnTo>
                  <a:pt x="661670" y="1320800"/>
                </a:lnTo>
                <a:lnTo>
                  <a:pt x="529590" y="1320800"/>
                </a:lnTo>
                <a:lnTo>
                  <a:pt x="529590" y="1452880"/>
                </a:lnTo>
                <a:lnTo>
                  <a:pt x="397510" y="1452880"/>
                </a:lnTo>
                <a:lnTo>
                  <a:pt x="397510" y="1587500"/>
                </a:lnTo>
                <a:lnTo>
                  <a:pt x="264160" y="1587500"/>
                </a:lnTo>
                <a:lnTo>
                  <a:pt x="264160" y="1719580"/>
                </a:lnTo>
                <a:lnTo>
                  <a:pt x="132080" y="1719580"/>
                </a:lnTo>
                <a:lnTo>
                  <a:pt x="132080" y="1851660"/>
                </a:lnTo>
                <a:lnTo>
                  <a:pt x="0" y="1851660"/>
                </a:lnTo>
                <a:cubicBezTo>
                  <a:pt x="0" y="2731770"/>
                  <a:pt x="0" y="3618230"/>
                  <a:pt x="0" y="4497070"/>
                </a:cubicBezTo>
                <a:lnTo>
                  <a:pt x="132080" y="4497070"/>
                </a:lnTo>
                <a:lnTo>
                  <a:pt x="132080" y="4629150"/>
                </a:lnTo>
                <a:lnTo>
                  <a:pt x="264160" y="4629150"/>
                </a:lnTo>
                <a:lnTo>
                  <a:pt x="264160" y="4762500"/>
                </a:lnTo>
                <a:lnTo>
                  <a:pt x="396240" y="4762500"/>
                </a:lnTo>
                <a:lnTo>
                  <a:pt x="396240" y="4894580"/>
                </a:lnTo>
                <a:lnTo>
                  <a:pt x="528320" y="4894580"/>
                </a:lnTo>
                <a:lnTo>
                  <a:pt x="528320" y="5026660"/>
                </a:lnTo>
                <a:lnTo>
                  <a:pt x="660400" y="5026660"/>
                </a:lnTo>
                <a:lnTo>
                  <a:pt x="660400" y="5158740"/>
                </a:lnTo>
                <a:lnTo>
                  <a:pt x="792480" y="5158740"/>
                </a:lnTo>
                <a:lnTo>
                  <a:pt x="792480" y="5290820"/>
                </a:lnTo>
                <a:lnTo>
                  <a:pt x="924560" y="5290820"/>
                </a:lnTo>
                <a:lnTo>
                  <a:pt x="924560" y="5422900"/>
                </a:lnTo>
                <a:lnTo>
                  <a:pt x="1056640" y="5422900"/>
                </a:lnTo>
                <a:lnTo>
                  <a:pt x="1056640" y="5554980"/>
                </a:lnTo>
                <a:lnTo>
                  <a:pt x="1188720" y="5554980"/>
                </a:lnTo>
                <a:lnTo>
                  <a:pt x="1188720" y="5687060"/>
                </a:lnTo>
                <a:lnTo>
                  <a:pt x="1320800" y="5687060"/>
                </a:lnTo>
                <a:lnTo>
                  <a:pt x="1320800" y="5819140"/>
                </a:lnTo>
                <a:lnTo>
                  <a:pt x="1452880" y="5819140"/>
                </a:lnTo>
                <a:lnTo>
                  <a:pt x="1452880" y="5951220"/>
                </a:lnTo>
                <a:lnTo>
                  <a:pt x="1587500" y="5951220"/>
                </a:lnTo>
                <a:lnTo>
                  <a:pt x="1587500" y="6083300"/>
                </a:lnTo>
                <a:lnTo>
                  <a:pt x="1719580" y="6083300"/>
                </a:lnTo>
                <a:lnTo>
                  <a:pt x="1719580" y="6215380"/>
                </a:lnTo>
                <a:lnTo>
                  <a:pt x="1851660" y="6215380"/>
                </a:lnTo>
                <a:lnTo>
                  <a:pt x="1851660" y="6350000"/>
                </a:lnTo>
                <a:cubicBezTo>
                  <a:pt x="2687320" y="6350000"/>
                  <a:pt x="3529330" y="6350000"/>
                  <a:pt x="4364990" y="6350000"/>
                </a:cubicBezTo>
                <a:lnTo>
                  <a:pt x="4364990" y="6217920"/>
                </a:lnTo>
                <a:lnTo>
                  <a:pt x="4497070" y="6217920"/>
                </a:lnTo>
                <a:lnTo>
                  <a:pt x="4497070" y="6085840"/>
                </a:lnTo>
                <a:lnTo>
                  <a:pt x="4629150" y="6085840"/>
                </a:lnTo>
                <a:lnTo>
                  <a:pt x="4629150" y="5953760"/>
                </a:lnTo>
                <a:lnTo>
                  <a:pt x="4762500" y="5953760"/>
                </a:lnTo>
                <a:lnTo>
                  <a:pt x="4762500" y="5821680"/>
                </a:lnTo>
                <a:lnTo>
                  <a:pt x="4894580" y="5821680"/>
                </a:lnTo>
                <a:lnTo>
                  <a:pt x="4894580" y="5689600"/>
                </a:lnTo>
                <a:lnTo>
                  <a:pt x="5026660" y="5689600"/>
                </a:lnTo>
                <a:lnTo>
                  <a:pt x="5026660" y="5557520"/>
                </a:lnTo>
                <a:lnTo>
                  <a:pt x="5158740" y="5557520"/>
                </a:lnTo>
                <a:lnTo>
                  <a:pt x="5158740" y="5425440"/>
                </a:lnTo>
                <a:lnTo>
                  <a:pt x="5290820" y="5425440"/>
                </a:lnTo>
                <a:lnTo>
                  <a:pt x="5290820" y="5293360"/>
                </a:lnTo>
                <a:lnTo>
                  <a:pt x="5422900" y="5293360"/>
                </a:lnTo>
                <a:lnTo>
                  <a:pt x="5422900" y="5161280"/>
                </a:lnTo>
                <a:lnTo>
                  <a:pt x="5554980" y="5161280"/>
                </a:lnTo>
                <a:lnTo>
                  <a:pt x="5554980" y="5029200"/>
                </a:lnTo>
                <a:lnTo>
                  <a:pt x="5687060" y="5029200"/>
                </a:lnTo>
                <a:lnTo>
                  <a:pt x="5687060" y="4897120"/>
                </a:lnTo>
                <a:lnTo>
                  <a:pt x="5819140" y="4897120"/>
                </a:lnTo>
                <a:lnTo>
                  <a:pt x="5819140" y="4762500"/>
                </a:lnTo>
                <a:lnTo>
                  <a:pt x="5951220" y="4762500"/>
                </a:lnTo>
                <a:lnTo>
                  <a:pt x="5951220" y="4630420"/>
                </a:lnTo>
                <a:lnTo>
                  <a:pt x="6083300" y="4630420"/>
                </a:lnTo>
                <a:lnTo>
                  <a:pt x="6083300" y="4498340"/>
                </a:lnTo>
                <a:lnTo>
                  <a:pt x="6215380" y="4498340"/>
                </a:lnTo>
                <a:cubicBezTo>
                  <a:pt x="6215380" y="3618230"/>
                  <a:pt x="6215380" y="2731770"/>
                  <a:pt x="6215380" y="1852930"/>
                </a:cubicBezTo>
                <a:lnTo>
                  <a:pt x="6085840" y="185293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40813" r="-40813" t="0"/>
            </a:stretch>
          </a:blipFill>
          <a:ln cap="sq" cmpd="sng" w="19050">
            <a:solidFill>
              <a:srgbClr val="96C5D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14883528" y="3538974"/>
            <a:ext cx="3692604" cy="3772583"/>
          </a:xfrm>
          <a:custGeom>
            <a:rect b="b" l="l" r="r" t="t"/>
            <a:pathLst>
              <a:path extrusionOk="0" h="6350000" w="6215380">
                <a:moveTo>
                  <a:pt x="6085840" y="1851660"/>
                </a:moveTo>
                <a:lnTo>
                  <a:pt x="6085840" y="1719580"/>
                </a:lnTo>
                <a:lnTo>
                  <a:pt x="5953760" y="1719580"/>
                </a:lnTo>
                <a:lnTo>
                  <a:pt x="5953760" y="1587500"/>
                </a:lnTo>
                <a:lnTo>
                  <a:pt x="5821680" y="1587500"/>
                </a:lnTo>
                <a:lnTo>
                  <a:pt x="5821680" y="1455420"/>
                </a:lnTo>
                <a:lnTo>
                  <a:pt x="5689600" y="1455420"/>
                </a:lnTo>
                <a:lnTo>
                  <a:pt x="5689600" y="1323340"/>
                </a:lnTo>
                <a:lnTo>
                  <a:pt x="5557520" y="1323340"/>
                </a:lnTo>
                <a:lnTo>
                  <a:pt x="5557520" y="1189990"/>
                </a:lnTo>
                <a:lnTo>
                  <a:pt x="5425440" y="1189990"/>
                </a:lnTo>
                <a:lnTo>
                  <a:pt x="5425440" y="1057910"/>
                </a:lnTo>
                <a:lnTo>
                  <a:pt x="5293360" y="1057910"/>
                </a:lnTo>
                <a:lnTo>
                  <a:pt x="5293360" y="925830"/>
                </a:lnTo>
                <a:lnTo>
                  <a:pt x="5161280" y="925830"/>
                </a:lnTo>
                <a:lnTo>
                  <a:pt x="5161280" y="793750"/>
                </a:lnTo>
                <a:lnTo>
                  <a:pt x="5029200" y="793750"/>
                </a:lnTo>
                <a:lnTo>
                  <a:pt x="5029200" y="661670"/>
                </a:lnTo>
                <a:lnTo>
                  <a:pt x="4897120" y="661670"/>
                </a:lnTo>
                <a:lnTo>
                  <a:pt x="4897120" y="529590"/>
                </a:lnTo>
                <a:lnTo>
                  <a:pt x="4762500" y="529590"/>
                </a:lnTo>
                <a:lnTo>
                  <a:pt x="4762500" y="397510"/>
                </a:lnTo>
                <a:lnTo>
                  <a:pt x="4630420" y="397510"/>
                </a:lnTo>
                <a:lnTo>
                  <a:pt x="4630420" y="264160"/>
                </a:lnTo>
                <a:lnTo>
                  <a:pt x="4498340" y="264160"/>
                </a:lnTo>
                <a:lnTo>
                  <a:pt x="4498340" y="132080"/>
                </a:lnTo>
                <a:lnTo>
                  <a:pt x="4366260" y="132080"/>
                </a:lnTo>
                <a:lnTo>
                  <a:pt x="4366260" y="0"/>
                </a:lnTo>
                <a:cubicBezTo>
                  <a:pt x="3530600" y="0"/>
                  <a:pt x="2688590" y="0"/>
                  <a:pt x="1852930" y="0"/>
                </a:cubicBezTo>
                <a:lnTo>
                  <a:pt x="1852930" y="132080"/>
                </a:lnTo>
                <a:lnTo>
                  <a:pt x="1720850" y="132080"/>
                </a:lnTo>
                <a:lnTo>
                  <a:pt x="1720850" y="264160"/>
                </a:lnTo>
                <a:lnTo>
                  <a:pt x="1587500" y="264160"/>
                </a:lnTo>
                <a:lnTo>
                  <a:pt x="1587500" y="396240"/>
                </a:lnTo>
                <a:lnTo>
                  <a:pt x="1455420" y="396240"/>
                </a:lnTo>
                <a:lnTo>
                  <a:pt x="1455420" y="528320"/>
                </a:lnTo>
                <a:lnTo>
                  <a:pt x="1323340" y="528320"/>
                </a:lnTo>
                <a:lnTo>
                  <a:pt x="1323340" y="660400"/>
                </a:lnTo>
                <a:lnTo>
                  <a:pt x="1189990" y="660400"/>
                </a:lnTo>
                <a:lnTo>
                  <a:pt x="1189990" y="792480"/>
                </a:lnTo>
                <a:lnTo>
                  <a:pt x="1057910" y="792480"/>
                </a:lnTo>
                <a:lnTo>
                  <a:pt x="1057910" y="924560"/>
                </a:lnTo>
                <a:lnTo>
                  <a:pt x="925830" y="924560"/>
                </a:lnTo>
                <a:lnTo>
                  <a:pt x="925830" y="1056640"/>
                </a:lnTo>
                <a:lnTo>
                  <a:pt x="793750" y="1056640"/>
                </a:lnTo>
                <a:lnTo>
                  <a:pt x="793750" y="1188720"/>
                </a:lnTo>
                <a:lnTo>
                  <a:pt x="661670" y="1188720"/>
                </a:lnTo>
                <a:lnTo>
                  <a:pt x="661670" y="1320800"/>
                </a:lnTo>
                <a:lnTo>
                  <a:pt x="529590" y="1320800"/>
                </a:lnTo>
                <a:lnTo>
                  <a:pt x="529590" y="1452880"/>
                </a:lnTo>
                <a:lnTo>
                  <a:pt x="397510" y="1452880"/>
                </a:lnTo>
                <a:lnTo>
                  <a:pt x="397510" y="1587500"/>
                </a:lnTo>
                <a:lnTo>
                  <a:pt x="264160" y="1587500"/>
                </a:lnTo>
                <a:lnTo>
                  <a:pt x="264160" y="1719580"/>
                </a:lnTo>
                <a:lnTo>
                  <a:pt x="132080" y="1719580"/>
                </a:lnTo>
                <a:lnTo>
                  <a:pt x="132080" y="1851660"/>
                </a:lnTo>
                <a:lnTo>
                  <a:pt x="0" y="1851660"/>
                </a:lnTo>
                <a:cubicBezTo>
                  <a:pt x="0" y="2731770"/>
                  <a:pt x="0" y="3618230"/>
                  <a:pt x="0" y="4497070"/>
                </a:cubicBezTo>
                <a:lnTo>
                  <a:pt x="132080" y="4497070"/>
                </a:lnTo>
                <a:lnTo>
                  <a:pt x="132080" y="4629150"/>
                </a:lnTo>
                <a:lnTo>
                  <a:pt x="264160" y="4629150"/>
                </a:lnTo>
                <a:lnTo>
                  <a:pt x="264160" y="4762500"/>
                </a:lnTo>
                <a:lnTo>
                  <a:pt x="396240" y="4762500"/>
                </a:lnTo>
                <a:lnTo>
                  <a:pt x="396240" y="4894580"/>
                </a:lnTo>
                <a:lnTo>
                  <a:pt x="528320" y="4894580"/>
                </a:lnTo>
                <a:lnTo>
                  <a:pt x="528320" y="5026660"/>
                </a:lnTo>
                <a:lnTo>
                  <a:pt x="660400" y="5026660"/>
                </a:lnTo>
                <a:lnTo>
                  <a:pt x="660400" y="5158740"/>
                </a:lnTo>
                <a:lnTo>
                  <a:pt x="792480" y="5158740"/>
                </a:lnTo>
                <a:lnTo>
                  <a:pt x="792480" y="5290820"/>
                </a:lnTo>
                <a:lnTo>
                  <a:pt x="924560" y="5290820"/>
                </a:lnTo>
                <a:lnTo>
                  <a:pt x="924560" y="5422900"/>
                </a:lnTo>
                <a:lnTo>
                  <a:pt x="1056640" y="5422900"/>
                </a:lnTo>
                <a:lnTo>
                  <a:pt x="1056640" y="5554980"/>
                </a:lnTo>
                <a:lnTo>
                  <a:pt x="1188720" y="5554980"/>
                </a:lnTo>
                <a:lnTo>
                  <a:pt x="1188720" y="5687060"/>
                </a:lnTo>
                <a:lnTo>
                  <a:pt x="1320800" y="5687060"/>
                </a:lnTo>
                <a:lnTo>
                  <a:pt x="1320800" y="5819140"/>
                </a:lnTo>
                <a:lnTo>
                  <a:pt x="1452880" y="5819140"/>
                </a:lnTo>
                <a:lnTo>
                  <a:pt x="1452880" y="5951220"/>
                </a:lnTo>
                <a:lnTo>
                  <a:pt x="1587500" y="5951220"/>
                </a:lnTo>
                <a:lnTo>
                  <a:pt x="1587500" y="6083300"/>
                </a:lnTo>
                <a:lnTo>
                  <a:pt x="1719580" y="6083300"/>
                </a:lnTo>
                <a:lnTo>
                  <a:pt x="1719580" y="6215380"/>
                </a:lnTo>
                <a:lnTo>
                  <a:pt x="1851660" y="6215380"/>
                </a:lnTo>
                <a:lnTo>
                  <a:pt x="1851660" y="6350000"/>
                </a:lnTo>
                <a:cubicBezTo>
                  <a:pt x="2687320" y="6350000"/>
                  <a:pt x="3529330" y="6350000"/>
                  <a:pt x="4364990" y="6350000"/>
                </a:cubicBezTo>
                <a:lnTo>
                  <a:pt x="4364990" y="6217920"/>
                </a:lnTo>
                <a:lnTo>
                  <a:pt x="4497070" y="6217920"/>
                </a:lnTo>
                <a:lnTo>
                  <a:pt x="4497070" y="6085840"/>
                </a:lnTo>
                <a:lnTo>
                  <a:pt x="4629150" y="6085840"/>
                </a:lnTo>
                <a:lnTo>
                  <a:pt x="4629150" y="5953760"/>
                </a:lnTo>
                <a:lnTo>
                  <a:pt x="4762500" y="5953760"/>
                </a:lnTo>
                <a:lnTo>
                  <a:pt x="4762500" y="5821680"/>
                </a:lnTo>
                <a:lnTo>
                  <a:pt x="4894580" y="5821680"/>
                </a:lnTo>
                <a:lnTo>
                  <a:pt x="4894580" y="5689600"/>
                </a:lnTo>
                <a:lnTo>
                  <a:pt x="5026660" y="5689600"/>
                </a:lnTo>
                <a:lnTo>
                  <a:pt x="5026660" y="5557520"/>
                </a:lnTo>
                <a:lnTo>
                  <a:pt x="5158740" y="5557520"/>
                </a:lnTo>
                <a:lnTo>
                  <a:pt x="5158740" y="5425440"/>
                </a:lnTo>
                <a:lnTo>
                  <a:pt x="5290820" y="5425440"/>
                </a:lnTo>
                <a:lnTo>
                  <a:pt x="5290820" y="5293360"/>
                </a:lnTo>
                <a:lnTo>
                  <a:pt x="5422900" y="5293360"/>
                </a:lnTo>
                <a:lnTo>
                  <a:pt x="5422900" y="5161280"/>
                </a:lnTo>
                <a:lnTo>
                  <a:pt x="5554980" y="5161280"/>
                </a:lnTo>
                <a:lnTo>
                  <a:pt x="5554980" y="5029200"/>
                </a:lnTo>
                <a:lnTo>
                  <a:pt x="5687060" y="5029200"/>
                </a:lnTo>
                <a:lnTo>
                  <a:pt x="5687060" y="4897120"/>
                </a:lnTo>
                <a:lnTo>
                  <a:pt x="5819140" y="4897120"/>
                </a:lnTo>
                <a:lnTo>
                  <a:pt x="5819140" y="4762500"/>
                </a:lnTo>
                <a:lnTo>
                  <a:pt x="5951220" y="4762500"/>
                </a:lnTo>
                <a:lnTo>
                  <a:pt x="5951220" y="4630420"/>
                </a:lnTo>
                <a:lnTo>
                  <a:pt x="6083300" y="4630420"/>
                </a:lnTo>
                <a:lnTo>
                  <a:pt x="6083300" y="4498340"/>
                </a:lnTo>
                <a:lnTo>
                  <a:pt x="6215380" y="4498340"/>
                </a:lnTo>
                <a:cubicBezTo>
                  <a:pt x="6215380" y="3618230"/>
                  <a:pt x="6215380" y="2731770"/>
                  <a:pt x="6215380" y="1852930"/>
                </a:cubicBezTo>
                <a:lnTo>
                  <a:pt x="6085840" y="185293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8111" r="-18111" t="0"/>
            </a:stretch>
          </a:blipFill>
          <a:ln cap="sq" cmpd="sng" w="19050">
            <a:solidFill>
              <a:srgbClr val="96C5D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177" name="Google Shape;177;p7"/>
          <p:cNvGrpSpPr/>
          <p:nvPr/>
        </p:nvGrpSpPr>
        <p:grpSpPr>
          <a:xfrm>
            <a:off x="-80920" y="-144661"/>
            <a:ext cx="18449839" cy="7689827"/>
            <a:chOff x="0" y="-38100"/>
            <a:chExt cx="4859217" cy="2025304"/>
          </a:xfrm>
        </p:grpSpPr>
        <p:sp>
          <p:nvSpPr>
            <p:cNvPr id="178" name="Google Shape;178;p7"/>
            <p:cNvSpPr/>
            <p:nvPr/>
          </p:nvSpPr>
          <p:spPr>
            <a:xfrm>
              <a:off x="0" y="0"/>
              <a:ext cx="4859217" cy="1987204"/>
            </a:xfrm>
            <a:custGeom>
              <a:rect b="b" l="l" r="r" t="t"/>
              <a:pathLst>
                <a:path extrusionOk="0"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>
              <a:gsLst>
                <a:gs pos="0">
                  <a:srgbClr val="060606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79" name="Google Shape;179;p7"/>
            <p:cNvSpPr txBox="1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7"/>
          <p:cNvGrpSpPr/>
          <p:nvPr/>
        </p:nvGrpSpPr>
        <p:grpSpPr>
          <a:xfrm>
            <a:off x="-80920" y="9287779"/>
            <a:ext cx="771504" cy="1162766"/>
            <a:chOff x="0" y="-38100"/>
            <a:chExt cx="203194" cy="306243"/>
          </a:xfrm>
        </p:grpSpPr>
        <p:sp>
          <p:nvSpPr>
            <p:cNvPr id="181" name="Google Shape;181;p7"/>
            <p:cNvSpPr/>
            <p:nvPr/>
          </p:nvSpPr>
          <p:spPr>
            <a:xfrm>
              <a:off x="0" y="0"/>
              <a:ext cx="203194" cy="268143"/>
            </a:xfrm>
            <a:custGeom>
              <a:rect b="b" l="l" r="r" t="t"/>
              <a:pathLst>
                <a:path extrusionOk="0" h="26814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268143"/>
                  </a:lnTo>
                  <a:lnTo>
                    <a:pt x="0" y="26814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82" name="Google Shape;182;p7"/>
            <p:cNvSpPr txBox="1"/>
            <p:nvPr/>
          </p:nvSpPr>
          <p:spPr>
            <a:xfrm>
              <a:off x="0" y="-38100"/>
              <a:ext cx="203194" cy="306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/>
            </a:p>
          </p:txBody>
        </p:sp>
      </p:grpSp>
      <p:sp>
        <p:nvSpPr>
          <p:cNvPr id="183" name="Google Shape;183;p7"/>
          <p:cNvSpPr/>
          <p:nvPr/>
        </p:nvSpPr>
        <p:spPr>
          <a:xfrm>
            <a:off x="14557860" y="-1996888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4" name="Google Shape;184;p7"/>
          <p:cNvGrpSpPr/>
          <p:nvPr/>
        </p:nvGrpSpPr>
        <p:grpSpPr>
          <a:xfrm>
            <a:off x="8121820" y="3842086"/>
            <a:ext cx="385752" cy="532094"/>
            <a:chOff x="0" y="-38100"/>
            <a:chExt cx="101597" cy="140140"/>
          </a:xfrm>
        </p:grpSpPr>
        <p:sp>
          <p:nvSpPr>
            <p:cNvPr id="185" name="Google Shape;185;p7"/>
            <p:cNvSpPr/>
            <p:nvPr/>
          </p:nvSpPr>
          <p:spPr>
            <a:xfrm>
              <a:off x="0" y="0"/>
              <a:ext cx="101597" cy="102040"/>
            </a:xfrm>
            <a:custGeom>
              <a:rect b="b" l="l" r="r" t="t"/>
              <a:pathLst>
                <a:path extrusionOk="0" h="102040" w="101597">
                  <a:moveTo>
                    <a:pt x="0" y="0"/>
                  </a:moveTo>
                  <a:lnTo>
                    <a:pt x="101597" y="0"/>
                  </a:lnTo>
                  <a:lnTo>
                    <a:pt x="101597" y="102040"/>
                  </a:lnTo>
                  <a:lnTo>
                    <a:pt x="0" y="102040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86" name="Google Shape;186;p7"/>
            <p:cNvSpPr txBox="1"/>
            <p:nvPr/>
          </p:nvSpPr>
          <p:spPr>
            <a:xfrm>
              <a:off x="0" y="-38100"/>
              <a:ext cx="101597" cy="140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7"/>
          <p:cNvGrpSpPr/>
          <p:nvPr/>
        </p:nvGrpSpPr>
        <p:grpSpPr>
          <a:xfrm>
            <a:off x="8121820" y="5998452"/>
            <a:ext cx="385752" cy="532094"/>
            <a:chOff x="0" y="-38100"/>
            <a:chExt cx="101597" cy="140140"/>
          </a:xfrm>
        </p:grpSpPr>
        <p:sp>
          <p:nvSpPr>
            <p:cNvPr id="188" name="Google Shape;188;p7"/>
            <p:cNvSpPr/>
            <p:nvPr/>
          </p:nvSpPr>
          <p:spPr>
            <a:xfrm>
              <a:off x="0" y="0"/>
              <a:ext cx="101597" cy="102040"/>
            </a:xfrm>
            <a:custGeom>
              <a:rect b="b" l="l" r="r" t="t"/>
              <a:pathLst>
                <a:path extrusionOk="0" h="102040" w="101597">
                  <a:moveTo>
                    <a:pt x="0" y="0"/>
                  </a:moveTo>
                  <a:lnTo>
                    <a:pt x="101597" y="0"/>
                  </a:lnTo>
                  <a:lnTo>
                    <a:pt x="101597" y="102040"/>
                  </a:lnTo>
                  <a:lnTo>
                    <a:pt x="0" y="102040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89" name="Google Shape;189;p7"/>
            <p:cNvSpPr txBox="1"/>
            <p:nvPr/>
          </p:nvSpPr>
          <p:spPr>
            <a:xfrm>
              <a:off x="0" y="-38100"/>
              <a:ext cx="101597" cy="140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7"/>
          <p:cNvSpPr/>
          <p:nvPr/>
        </p:nvSpPr>
        <p:spPr>
          <a:xfrm>
            <a:off x="1353713" y="2123044"/>
            <a:ext cx="15715818" cy="7586160"/>
          </a:xfrm>
          <a:custGeom>
            <a:rect b="b" l="l" r="r" t="t"/>
            <a:pathLst>
              <a:path extrusionOk="0" h="7586160" w="15715818">
                <a:moveTo>
                  <a:pt x="0" y="0"/>
                </a:moveTo>
                <a:lnTo>
                  <a:pt x="15715818" y="0"/>
                </a:lnTo>
                <a:lnTo>
                  <a:pt x="15715818" y="7586160"/>
                </a:lnTo>
                <a:lnTo>
                  <a:pt x="0" y="7586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163" l="0" r="0" t="-11366"/>
            </a:stretch>
          </a:blipFill>
          <a:ln>
            <a:noFill/>
          </a:ln>
        </p:spPr>
      </p:sp>
      <p:sp>
        <p:nvSpPr>
          <p:cNvPr id="191" name="Google Shape;191;p7"/>
          <p:cNvSpPr txBox="1"/>
          <p:nvPr/>
        </p:nvSpPr>
        <p:spPr>
          <a:xfrm>
            <a:off x="385752" y="923925"/>
            <a:ext cx="14859189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SEVERITY OF CURRENT RESEARCH GAPS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197" name="Google Shape;197;p8"/>
          <p:cNvGrpSpPr/>
          <p:nvPr/>
        </p:nvGrpSpPr>
        <p:grpSpPr>
          <a:xfrm>
            <a:off x="-80920" y="-144661"/>
            <a:ext cx="18449839" cy="7689827"/>
            <a:chOff x="0" y="-38100"/>
            <a:chExt cx="4859217" cy="2025304"/>
          </a:xfrm>
        </p:grpSpPr>
        <p:sp>
          <p:nvSpPr>
            <p:cNvPr id="198" name="Google Shape;198;p8"/>
            <p:cNvSpPr/>
            <p:nvPr/>
          </p:nvSpPr>
          <p:spPr>
            <a:xfrm>
              <a:off x="0" y="0"/>
              <a:ext cx="4859217" cy="1987204"/>
            </a:xfrm>
            <a:custGeom>
              <a:rect b="b" l="l" r="r" t="t"/>
              <a:pathLst>
                <a:path extrusionOk="0"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>
              <a:gsLst>
                <a:gs pos="0">
                  <a:srgbClr val="060606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99" name="Google Shape;199;p8"/>
            <p:cNvSpPr txBox="1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8"/>
          <p:cNvGrpSpPr/>
          <p:nvPr/>
        </p:nvGrpSpPr>
        <p:grpSpPr>
          <a:xfrm>
            <a:off x="0" y="9312508"/>
            <a:ext cx="771504" cy="974492"/>
            <a:chOff x="0" y="-38100"/>
            <a:chExt cx="203194" cy="256656"/>
          </a:xfrm>
        </p:grpSpPr>
        <p:sp>
          <p:nvSpPr>
            <p:cNvPr id="201" name="Google Shape;201;p8"/>
            <p:cNvSpPr/>
            <p:nvPr/>
          </p:nvSpPr>
          <p:spPr>
            <a:xfrm>
              <a:off x="0" y="0"/>
              <a:ext cx="203194" cy="218556"/>
            </a:xfrm>
            <a:custGeom>
              <a:rect b="b" l="l" r="r" t="t"/>
              <a:pathLst>
                <a:path extrusionOk="0" h="218556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218556"/>
                  </a:lnTo>
                  <a:lnTo>
                    <a:pt x="0" y="218556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2" name="Google Shape;202;p8"/>
            <p:cNvSpPr txBox="1"/>
            <p:nvPr/>
          </p:nvSpPr>
          <p:spPr>
            <a:xfrm>
              <a:off x="0" y="-38100"/>
              <a:ext cx="203194" cy="256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/>
            </a:p>
          </p:txBody>
        </p:sp>
      </p:grpSp>
      <p:sp>
        <p:nvSpPr>
          <p:cNvPr id="203" name="Google Shape;203;p8"/>
          <p:cNvSpPr/>
          <p:nvPr/>
        </p:nvSpPr>
        <p:spPr>
          <a:xfrm>
            <a:off x="12296797" y="7545166"/>
            <a:ext cx="6072123" cy="2543091"/>
          </a:xfrm>
          <a:custGeom>
            <a:rect b="b" l="l" r="r" t="t"/>
            <a:pathLst>
              <a:path extrusionOk="0" h="14591551" w="34840152">
                <a:moveTo>
                  <a:pt x="34114315" y="1459155"/>
                </a:moveTo>
                <a:cubicBezTo>
                  <a:pt x="34114315" y="1313240"/>
                  <a:pt x="34114315" y="1021409"/>
                  <a:pt x="34114315" y="875493"/>
                </a:cubicBezTo>
                <a:lnTo>
                  <a:pt x="33388480" y="875493"/>
                </a:lnTo>
                <a:lnTo>
                  <a:pt x="33388480" y="583662"/>
                </a:lnTo>
                <a:lnTo>
                  <a:pt x="32662642" y="583662"/>
                </a:lnTo>
                <a:lnTo>
                  <a:pt x="32662642" y="291831"/>
                </a:lnTo>
                <a:cubicBezTo>
                  <a:pt x="32299725" y="291831"/>
                  <a:pt x="31573887" y="291831"/>
                  <a:pt x="31210969" y="291831"/>
                </a:cubicBezTo>
                <a:lnTo>
                  <a:pt x="31210969" y="0"/>
                </a:lnTo>
                <a:cubicBezTo>
                  <a:pt x="22021879" y="0"/>
                  <a:pt x="12818273" y="0"/>
                  <a:pt x="3629182" y="0"/>
                </a:cubicBezTo>
                <a:lnTo>
                  <a:pt x="3629182" y="291831"/>
                </a:lnTo>
                <a:cubicBezTo>
                  <a:pt x="3266264" y="291831"/>
                  <a:pt x="2540428" y="291831"/>
                  <a:pt x="2177510" y="291831"/>
                </a:cubicBezTo>
                <a:lnTo>
                  <a:pt x="2177510" y="583662"/>
                </a:lnTo>
                <a:lnTo>
                  <a:pt x="1451673" y="583662"/>
                </a:lnTo>
                <a:lnTo>
                  <a:pt x="1451673" y="875493"/>
                </a:lnTo>
                <a:lnTo>
                  <a:pt x="725837" y="875493"/>
                </a:lnTo>
                <a:cubicBezTo>
                  <a:pt x="725837" y="1021409"/>
                  <a:pt x="725837" y="1313240"/>
                  <a:pt x="725837" y="1459155"/>
                </a:cubicBezTo>
                <a:lnTo>
                  <a:pt x="0" y="1459155"/>
                </a:lnTo>
                <a:cubicBezTo>
                  <a:pt x="0" y="5349263"/>
                  <a:pt x="0" y="9242289"/>
                  <a:pt x="0" y="13132395"/>
                </a:cubicBezTo>
                <a:lnTo>
                  <a:pt x="725837" y="13132395"/>
                </a:lnTo>
                <a:cubicBezTo>
                  <a:pt x="725837" y="13278310"/>
                  <a:pt x="725837" y="13570142"/>
                  <a:pt x="725837" y="13716057"/>
                </a:cubicBezTo>
                <a:lnTo>
                  <a:pt x="1451673" y="13716057"/>
                </a:lnTo>
                <a:lnTo>
                  <a:pt x="1451673" y="14007889"/>
                </a:lnTo>
                <a:lnTo>
                  <a:pt x="2177510" y="14007889"/>
                </a:lnTo>
                <a:lnTo>
                  <a:pt x="2177510" y="14299719"/>
                </a:lnTo>
                <a:cubicBezTo>
                  <a:pt x="2540428" y="14299719"/>
                  <a:pt x="3266264" y="14299719"/>
                  <a:pt x="3629182" y="14299719"/>
                </a:cubicBezTo>
                <a:lnTo>
                  <a:pt x="3629182" y="14591551"/>
                </a:lnTo>
                <a:cubicBezTo>
                  <a:pt x="12818273" y="14591551"/>
                  <a:pt x="22021879" y="14591551"/>
                  <a:pt x="31210969" y="14591551"/>
                </a:cubicBezTo>
                <a:lnTo>
                  <a:pt x="31210969" y="14299719"/>
                </a:lnTo>
                <a:cubicBezTo>
                  <a:pt x="31573887" y="14299719"/>
                  <a:pt x="32299725" y="14299719"/>
                  <a:pt x="32662642" y="14299719"/>
                </a:cubicBezTo>
                <a:lnTo>
                  <a:pt x="32662642" y="14007889"/>
                </a:lnTo>
                <a:lnTo>
                  <a:pt x="33388480" y="14007889"/>
                </a:lnTo>
                <a:lnTo>
                  <a:pt x="33388480" y="13716057"/>
                </a:lnTo>
                <a:lnTo>
                  <a:pt x="34114315" y="13716057"/>
                </a:lnTo>
                <a:cubicBezTo>
                  <a:pt x="34114315" y="13570142"/>
                  <a:pt x="34114315" y="13278310"/>
                  <a:pt x="34114315" y="13132395"/>
                </a:cubicBezTo>
                <a:lnTo>
                  <a:pt x="34840152" y="13132395"/>
                </a:lnTo>
                <a:cubicBezTo>
                  <a:pt x="34840152" y="9242289"/>
                  <a:pt x="34840152" y="5349262"/>
                  <a:pt x="34840152" y="1459155"/>
                </a:cubicBezTo>
                <a:lnTo>
                  <a:pt x="34114315" y="145915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539" l="0" r="0" t="-29539"/>
            </a:stretch>
          </a:blipFill>
          <a:ln cap="sq" cmpd="sng" w="19050">
            <a:solidFill>
              <a:srgbClr val="96C5D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0" y="1890399"/>
            <a:ext cx="16027136" cy="732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8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FUTURE RESEARCH DIRECTION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1608845" y="3340921"/>
            <a:ext cx="15070309" cy="4204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9484" lvl="1" marL="858968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78"/>
              <a:buFont typeface="Arial"/>
              <a:buChar char="•"/>
            </a:pPr>
            <a:r>
              <a:rPr b="1" i="0" lang="en-US" sz="39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 lightweight and efficient models</a:t>
            </a:r>
            <a:endParaRPr/>
          </a:p>
          <a:p>
            <a:pPr indent="-429484" lvl="1" marL="858968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78"/>
              <a:buFont typeface="Arial"/>
              <a:buChar char="•"/>
            </a:pPr>
            <a:r>
              <a:rPr b="1" i="0" lang="en-US" sz="39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 multiple data sources (URL, HTML, DNS, SSL)</a:t>
            </a:r>
            <a:endParaRPr/>
          </a:p>
          <a:p>
            <a:pPr indent="-429484" lvl="1" marL="858968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78"/>
              <a:buFont typeface="Arial"/>
              <a:buChar char="•"/>
            </a:pPr>
            <a:r>
              <a:rPr b="1" i="0" lang="en-US" sz="39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adaptive models for evolving attacks</a:t>
            </a:r>
            <a:endParaRPr/>
          </a:p>
          <a:p>
            <a:pPr indent="-429484" lvl="1" marL="858968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78"/>
              <a:buFont typeface="Arial"/>
              <a:buChar char="•"/>
            </a:pPr>
            <a:r>
              <a:rPr b="1" i="0" lang="en-US" sz="39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Apply Explainable AI (XAI) for transparent decisions</a:t>
            </a:r>
            <a:endParaRPr/>
          </a:p>
          <a:p>
            <a:pPr indent="-429484" lvl="1" marL="858968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78"/>
              <a:buFont typeface="Arial"/>
              <a:buChar char="•"/>
            </a:pPr>
            <a:r>
              <a:rPr b="1" i="0" lang="en-US" sz="39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 real-time and zero-day phishing detection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97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211" name="Google Shape;211;p9"/>
          <p:cNvGrpSpPr/>
          <p:nvPr/>
        </p:nvGrpSpPr>
        <p:grpSpPr>
          <a:xfrm>
            <a:off x="-80920" y="-144661"/>
            <a:ext cx="18449839" cy="7689827"/>
            <a:chOff x="0" y="-38100"/>
            <a:chExt cx="4859217" cy="2025304"/>
          </a:xfrm>
        </p:grpSpPr>
        <p:sp>
          <p:nvSpPr>
            <p:cNvPr id="212" name="Google Shape;212;p9"/>
            <p:cNvSpPr/>
            <p:nvPr/>
          </p:nvSpPr>
          <p:spPr>
            <a:xfrm>
              <a:off x="0" y="0"/>
              <a:ext cx="4859217" cy="1987204"/>
            </a:xfrm>
            <a:custGeom>
              <a:rect b="b" l="l" r="r" t="t"/>
              <a:pathLst>
                <a:path extrusionOk="0"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>
              <a:gsLst>
                <a:gs pos="0">
                  <a:srgbClr val="060606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13" name="Google Shape;213;p9"/>
            <p:cNvSpPr txBox="1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9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215" name="Google Shape;215;p9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16" name="Google Shape;216;p9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9"/>
          <p:cNvSpPr/>
          <p:nvPr/>
        </p:nvSpPr>
        <p:spPr>
          <a:xfrm>
            <a:off x="16758060" y="9362399"/>
            <a:ext cx="685327" cy="409950"/>
          </a:xfrm>
          <a:custGeom>
            <a:rect b="b" l="l" r="r" t="t"/>
            <a:pathLst>
              <a:path extrusionOk="0"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9"/>
          <p:cNvSpPr/>
          <p:nvPr/>
        </p:nvSpPr>
        <p:spPr>
          <a:xfrm>
            <a:off x="14557860" y="-1996888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9"/>
          <p:cNvSpPr txBox="1"/>
          <p:nvPr/>
        </p:nvSpPr>
        <p:spPr>
          <a:xfrm>
            <a:off x="1748273" y="877178"/>
            <a:ext cx="863624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IMPROVEMENT</a:t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256636" y="9676030"/>
            <a:ext cx="448732" cy="33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09</a:t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1748273" y="2727770"/>
            <a:ext cx="15009787" cy="5080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GAP: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model was trained on old data. Also, no real-time adaptation. Hackers invent new tricks every week. Future phishing attacks may look different.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Solution: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Build Multimodal AI (webpage HTML, images, logo, screenshot, login page design, SSL certificate, JavaScript behavior)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227" name="Google Shape;227;p10"/>
          <p:cNvGrpSpPr/>
          <p:nvPr/>
        </p:nvGrpSpPr>
        <p:grpSpPr>
          <a:xfrm>
            <a:off x="-80920" y="-144661"/>
            <a:ext cx="18449839" cy="7689827"/>
            <a:chOff x="0" y="-38100"/>
            <a:chExt cx="4859217" cy="2025304"/>
          </a:xfrm>
        </p:grpSpPr>
        <p:sp>
          <p:nvSpPr>
            <p:cNvPr id="228" name="Google Shape;228;p10"/>
            <p:cNvSpPr/>
            <p:nvPr/>
          </p:nvSpPr>
          <p:spPr>
            <a:xfrm>
              <a:off x="0" y="0"/>
              <a:ext cx="4859217" cy="1987204"/>
            </a:xfrm>
            <a:custGeom>
              <a:rect b="b" l="l" r="r" t="t"/>
              <a:pathLst>
                <a:path extrusionOk="0"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>
              <a:gsLst>
                <a:gs pos="0">
                  <a:srgbClr val="060606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9" name="Google Shape;229;p10"/>
            <p:cNvSpPr txBox="1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0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231" name="Google Shape;231;p10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32" name="Google Shape;232;p10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0"/>
          <p:cNvSpPr/>
          <p:nvPr/>
        </p:nvSpPr>
        <p:spPr>
          <a:xfrm>
            <a:off x="16758060" y="9362399"/>
            <a:ext cx="685327" cy="409950"/>
          </a:xfrm>
          <a:custGeom>
            <a:rect b="b" l="l" r="r" t="t"/>
            <a:pathLst>
              <a:path extrusionOk="0"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0"/>
          <p:cNvSpPr/>
          <p:nvPr/>
        </p:nvSpPr>
        <p:spPr>
          <a:xfrm>
            <a:off x="14557860" y="-1996888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0"/>
          <p:cNvSpPr txBox="1"/>
          <p:nvPr/>
        </p:nvSpPr>
        <p:spPr>
          <a:xfrm>
            <a:off x="1748273" y="877178"/>
            <a:ext cx="863624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IMPROVEMENT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256636" y="9676030"/>
            <a:ext cx="448732" cy="33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10</a:t>
            </a:r>
            <a:endParaRPr/>
          </a:p>
        </p:txBody>
      </p:sp>
      <p:sp>
        <p:nvSpPr>
          <p:cNvPr id="237" name="Google Shape;237;p10"/>
          <p:cNvSpPr txBox="1"/>
          <p:nvPr/>
        </p:nvSpPr>
        <p:spPr>
          <a:xfrm>
            <a:off x="1748273" y="2888933"/>
            <a:ext cx="15009787" cy="444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GAP: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model is trained once on old data and never explains why it made a decision.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Solution: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Zero-day phishing: add continual learning for daily updates and Explainable AI to help experts understand each prediction.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grpSp>
        <p:nvGrpSpPr>
          <p:cNvPr id="243" name="Google Shape;243;p11"/>
          <p:cNvGrpSpPr/>
          <p:nvPr/>
        </p:nvGrpSpPr>
        <p:grpSpPr>
          <a:xfrm>
            <a:off x="-80920" y="-144661"/>
            <a:ext cx="18449839" cy="7689827"/>
            <a:chOff x="0" y="-38100"/>
            <a:chExt cx="4859217" cy="2025304"/>
          </a:xfrm>
        </p:grpSpPr>
        <p:sp>
          <p:nvSpPr>
            <p:cNvPr id="244" name="Google Shape;244;p11"/>
            <p:cNvSpPr/>
            <p:nvPr/>
          </p:nvSpPr>
          <p:spPr>
            <a:xfrm>
              <a:off x="0" y="0"/>
              <a:ext cx="4859217" cy="1987204"/>
            </a:xfrm>
            <a:custGeom>
              <a:rect b="b" l="l" r="r" t="t"/>
              <a:pathLst>
                <a:path extrusionOk="0" h="1987204" w="4859217">
                  <a:moveTo>
                    <a:pt x="0" y="0"/>
                  </a:moveTo>
                  <a:lnTo>
                    <a:pt x="4859217" y="0"/>
                  </a:lnTo>
                  <a:lnTo>
                    <a:pt x="4859217" y="1987204"/>
                  </a:lnTo>
                  <a:lnTo>
                    <a:pt x="0" y="1987204"/>
                  </a:lnTo>
                  <a:close/>
                </a:path>
              </a:pathLst>
            </a:custGeom>
            <a:gradFill>
              <a:gsLst>
                <a:gs pos="0">
                  <a:srgbClr val="060606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45" name="Google Shape;245;p11"/>
            <p:cNvSpPr txBox="1"/>
            <p:nvPr/>
          </p:nvSpPr>
          <p:spPr>
            <a:xfrm>
              <a:off x="0" y="-38100"/>
              <a:ext cx="4859217" cy="2025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1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247" name="Google Shape;247;p11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48" name="Google Shape;248;p11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1"/>
          <p:cNvSpPr/>
          <p:nvPr/>
        </p:nvSpPr>
        <p:spPr>
          <a:xfrm>
            <a:off x="16758060" y="9362399"/>
            <a:ext cx="685327" cy="409950"/>
          </a:xfrm>
          <a:custGeom>
            <a:rect b="b" l="l" r="r" t="t"/>
            <a:pathLst>
              <a:path extrusionOk="0" h="409950" w="685327">
                <a:moveTo>
                  <a:pt x="0" y="0"/>
                </a:moveTo>
                <a:lnTo>
                  <a:pt x="685327" y="0"/>
                </a:lnTo>
                <a:lnTo>
                  <a:pt x="685327" y="409950"/>
                </a:lnTo>
                <a:lnTo>
                  <a:pt x="0" y="40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1"/>
          <p:cNvSpPr/>
          <p:nvPr/>
        </p:nvSpPr>
        <p:spPr>
          <a:xfrm>
            <a:off x="14557860" y="-1996888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8" y="0"/>
                </a:lnTo>
                <a:lnTo>
                  <a:pt x="6371068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1"/>
          <p:cNvSpPr txBox="1"/>
          <p:nvPr/>
        </p:nvSpPr>
        <p:spPr>
          <a:xfrm>
            <a:off x="1748273" y="877178"/>
            <a:ext cx="863624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IMPROVEMENT</a:t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256636" y="9676030"/>
            <a:ext cx="448732" cy="33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11</a:t>
            </a: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1748273" y="2727770"/>
            <a:ext cx="15009787" cy="5080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GAP: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It does not evaluate multilingual or Unicode URLs, domain/IP relationships, or robustness against adversarially modified URLs.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Solution: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Incorporating multilingual support, GNNs for domain/IP relationship analysis, and adversarial training to improve robustness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259" name="Google Shape;259;p12"/>
          <p:cNvSpPr/>
          <p:nvPr/>
        </p:nvSpPr>
        <p:spPr>
          <a:xfrm>
            <a:off x="-1922535" y="5516465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9" y="0"/>
                </a:lnTo>
                <a:lnTo>
                  <a:pt x="6371069" y="6371069"/>
                </a:lnTo>
                <a:lnTo>
                  <a:pt x="0" y="6371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0" name="Google Shape;260;p12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261" name="Google Shape;261;p12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62" name="Google Shape;262;p12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2"/>
          <p:cNvGrpSpPr/>
          <p:nvPr/>
        </p:nvGrpSpPr>
        <p:grpSpPr>
          <a:xfrm>
            <a:off x="4939777" y="800279"/>
            <a:ext cx="7374528" cy="7374528"/>
            <a:chOff x="0" y="0"/>
            <a:chExt cx="812800" cy="812800"/>
          </a:xfrm>
        </p:grpSpPr>
        <p:sp>
          <p:nvSpPr>
            <p:cNvPr id="264" name="Google Shape;264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0">
              <a:solidFill>
                <a:srgbClr val="585858">
                  <a:alpha val="5098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12"/>
          <p:cNvSpPr/>
          <p:nvPr/>
        </p:nvSpPr>
        <p:spPr>
          <a:xfrm>
            <a:off x="4695176" y="2242208"/>
            <a:ext cx="7766685" cy="7766685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5">
              <a:alphaModFix amt="42000"/>
            </a:blip>
            <a:stretch>
              <a:fillRect b="-26336" l="0" r="0" t="-2633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 flipH="1">
            <a:off x="16758060" y="9362399"/>
            <a:ext cx="685327" cy="409950"/>
          </a:xfrm>
          <a:custGeom>
            <a:rect b="b" l="l" r="r" t="t"/>
            <a:pathLst>
              <a:path extrusionOk="0" h="409950" w="685327">
                <a:moveTo>
                  <a:pt x="685327" y="0"/>
                </a:moveTo>
                <a:lnTo>
                  <a:pt x="0" y="0"/>
                </a:lnTo>
                <a:lnTo>
                  <a:pt x="0" y="409950"/>
                </a:lnTo>
                <a:lnTo>
                  <a:pt x="685327" y="409950"/>
                </a:lnTo>
                <a:lnTo>
                  <a:pt x="68532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2"/>
          <p:cNvSpPr txBox="1"/>
          <p:nvPr/>
        </p:nvSpPr>
        <p:spPr>
          <a:xfrm>
            <a:off x="256636" y="9676030"/>
            <a:ext cx="448732" cy="33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12</a:t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1335998" y="3534316"/>
            <a:ext cx="14188126" cy="203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48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THANK YOU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5479532" y="5567051"/>
            <a:ext cx="6915635" cy="340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ANY QUESTIONS?</a:t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13915189" y="-1876582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9" y="0"/>
                </a:lnTo>
                <a:lnTo>
                  <a:pt x="6371069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277" name="Google Shape;277;p13"/>
          <p:cNvSpPr/>
          <p:nvPr/>
        </p:nvSpPr>
        <p:spPr>
          <a:xfrm>
            <a:off x="3003933" y="0"/>
            <a:ext cx="12280135" cy="10287000"/>
          </a:xfrm>
          <a:custGeom>
            <a:rect b="b" l="l" r="r" t="t"/>
            <a:pathLst>
              <a:path extrusionOk="0" h="10287000" w="12280135">
                <a:moveTo>
                  <a:pt x="0" y="0"/>
                </a:moveTo>
                <a:lnTo>
                  <a:pt x="12280134" y="0"/>
                </a:lnTo>
                <a:lnTo>
                  <a:pt x="12280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3146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2" l="0" r="0" t="-9222"/>
            </a:stretch>
          </a:blipFill>
          <a:ln>
            <a:noFill/>
          </a:ln>
        </p:spPr>
      </p:sp>
      <p:sp>
        <p:nvSpPr>
          <p:cNvPr id="283" name="Google Shape;283;p14"/>
          <p:cNvSpPr/>
          <p:nvPr/>
        </p:nvSpPr>
        <p:spPr>
          <a:xfrm>
            <a:off x="-1922535" y="5516465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9" y="0"/>
                </a:lnTo>
                <a:lnTo>
                  <a:pt x="6371069" y="6371069"/>
                </a:lnTo>
                <a:lnTo>
                  <a:pt x="0" y="6371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4" name="Google Shape;284;p14"/>
          <p:cNvGrpSpPr/>
          <p:nvPr/>
        </p:nvGrpSpPr>
        <p:grpSpPr>
          <a:xfrm>
            <a:off x="0" y="9312508"/>
            <a:ext cx="771504" cy="1804324"/>
            <a:chOff x="0" y="-38100"/>
            <a:chExt cx="203194" cy="475213"/>
          </a:xfrm>
        </p:grpSpPr>
        <p:sp>
          <p:nvSpPr>
            <p:cNvPr id="285" name="Google Shape;285;p14"/>
            <p:cNvSpPr/>
            <p:nvPr/>
          </p:nvSpPr>
          <p:spPr>
            <a:xfrm>
              <a:off x="0" y="0"/>
              <a:ext cx="203194" cy="437113"/>
            </a:xfrm>
            <a:custGeom>
              <a:rect b="b" l="l" r="r" t="t"/>
              <a:pathLst>
                <a:path extrusionOk="0" h="437113" w="203194">
                  <a:moveTo>
                    <a:pt x="0" y="0"/>
                  </a:moveTo>
                  <a:lnTo>
                    <a:pt x="203194" y="0"/>
                  </a:lnTo>
                  <a:lnTo>
                    <a:pt x="203194" y="437113"/>
                  </a:lnTo>
                  <a:lnTo>
                    <a:pt x="0" y="437113"/>
                  </a:lnTo>
                  <a:close/>
                </a:path>
              </a:pathLst>
            </a:custGeom>
            <a:gradFill>
              <a:gsLst>
                <a:gs pos="0">
                  <a:srgbClr val="585858"/>
                </a:gs>
                <a:gs pos="100000">
                  <a:srgbClr val="080808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86" name="Google Shape;286;p14"/>
            <p:cNvSpPr txBox="1"/>
            <p:nvPr/>
          </p:nvSpPr>
          <p:spPr>
            <a:xfrm>
              <a:off x="0" y="-38100"/>
              <a:ext cx="203194" cy="475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4"/>
          <p:cNvGrpSpPr/>
          <p:nvPr/>
        </p:nvGrpSpPr>
        <p:grpSpPr>
          <a:xfrm>
            <a:off x="4939777" y="800279"/>
            <a:ext cx="7374528" cy="7374528"/>
            <a:chOff x="0" y="0"/>
            <a:chExt cx="812800" cy="812800"/>
          </a:xfrm>
        </p:grpSpPr>
        <p:sp>
          <p:nvSpPr>
            <p:cNvPr id="288" name="Google Shape;288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0">
              <a:solidFill>
                <a:srgbClr val="585858">
                  <a:alpha val="50980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14"/>
          <p:cNvSpPr/>
          <p:nvPr/>
        </p:nvSpPr>
        <p:spPr>
          <a:xfrm>
            <a:off x="4695176" y="2242208"/>
            <a:ext cx="7766685" cy="7766685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5">
              <a:alphaModFix amt="42000"/>
            </a:blip>
            <a:stretch>
              <a:fillRect b="-26336" l="0" r="0" t="-2633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 flipH="1">
            <a:off x="16758060" y="9362399"/>
            <a:ext cx="685327" cy="409950"/>
          </a:xfrm>
          <a:custGeom>
            <a:rect b="b" l="l" r="r" t="t"/>
            <a:pathLst>
              <a:path extrusionOk="0" h="409950" w="685327">
                <a:moveTo>
                  <a:pt x="685327" y="0"/>
                </a:moveTo>
                <a:lnTo>
                  <a:pt x="0" y="0"/>
                </a:lnTo>
                <a:lnTo>
                  <a:pt x="0" y="409950"/>
                </a:lnTo>
                <a:lnTo>
                  <a:pt x="685327" y="409950"/>
                </a:lnTo>
                <a:lnTo>
                  <a:pt x="685327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4"/>
          <p:cNvSpPr txBox="1"/>
          <p:nvPr/>
        </p:nvSpPr>
        <p:spPr>
          <a:xfrm>
            <a:off x="256636" y="9676030"/>
            <a:ext cx="448732" cy="33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10</a:t>
            </a:r>
            <a:endParaRPr/>
          </a:p>
        </p:txBody>
      </p:sp>
      <p:sp>
        <p:nvSpPr>
          <p:cNvPr id="293" name="Google Shape;293;p14"/>
          <p:cNvSpPr txBox="1"/>
          <p:nvPr/>
        </p:nvSpPr>
        <p:spPr>
          <a:xfrm>
            <a:off x="1095724" y="3235009"/>
            <a:ext cx="16096552" cy="3769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NEW PAPERWORK BASED ON OLD PAPER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5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5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5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5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HTTPS://JOURNAL-ISI.ORG/INDEX.PHP/ISI/ARTICLE/VIEW/1543/744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HTTPS://LINK.SPRINGER.COM/ARTICLE/10.1007/S41870-025-02597-8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HTTPS://IEEEXPLORE.IEEE.ORG/DOCUMENT/11193051/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5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5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75" u="none" cap="none" strike="noStrike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3915189" y="-1876582"/>
            <a:ext cx="6371069" cy="6371069"/>
          </a:xfrm>
          <a:custGeom>
            <a:rect b="b" l="l" r="r" t="t"/>
            <a:pathLst>
              <a:path extrusionOk="0" h="6371069" w="6371069">
                <a:moveTo>
                  <a:pt x="0" y="0"/>
                </a:moveTo>
                <a:lnTo>
                  <a:pt x="6371069" y="0"/>
                </a:lnTo>
                <a:lnTo>
                  <a:pt x="6371069" y="6371068"/>
                </a:lnTo>
                <a:lnTo>
                  <a:pt x="0" y="6371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6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